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65" r:id="rId11"/>
    <p:sldId id="266" r:id="rId12"/>
    <p:sldId id="277" r:id="rId28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81" r:id="rId32"/>
    <p:sldId id="271" r:id="rId17"/>
    <p:sldId id="282" r:id="rId33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8.xml"/><Relationship Id="rId14" Type="http://schemas.openxmlformats.org/officeDocument/2006/relationships/slide" Target="slides/slide20.xml"/><Relationship Id="rId15" Type="http://schemas.openxmlformats.org/officeDocument/2006/relationships/slide" Target="slides/slide22.xml"/><Relationship Id="rId16" Type="http://schemas.openxmlformats.org/officeDocument/2006/relationships/slide" Target="slides/slide24.xml"/><Relationship Id="rId17" Type="http://schemas.openxmlformats.org/officeDocument/2006/relationships/slide" Target="slides/slide2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7.xml"/><Relationship Id="rId29" Type="http://schemas.openxmlformats.org/officeDocument/2006/relationships/slide" Target="slides/slide19.xml"/><Relationship Id="rId30" Type="http://schemas.openxmlformats.org/officeDocument/2006/relationships/slide" Target="slides/slide21.xml"/><Relationship Id="rId31" Type="http://schemas.openxmlformats.org/officeDocument/2006/relationships/slide" Target="slides/slide23.xml"/><Relationship Id="rId32" Type="http://schemas.openxmlformats.org/officeDocument/2006/relationships/slide" Target="slides/slide25.xml"/><Relationship Id="rId33" Type="http://schemas.openxmlformats.org/officeDocument/2006/relationships/slide" Target="slides/slide2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RESIDENTIAL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09728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Buyer’s Guide  |  Lancer Point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Districts  ·  17,558 Listings  ·  2022–2025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202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918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0350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066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things every buyer &amp; investor should know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54864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 drives price and yield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2704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districts span $1,500–$2,300/m². Gross rental yields range 4.7–5.4%. Barranco leads on yield; San Borja on total return.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8928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 prices, but rental income fills the gap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185416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Prices declined 1–8%/yr across districts, but rents grew up to +1.7%/yr. Net yields of 4.0–4.6% make rentals the real return engine.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55117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5511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3–10 year buildings: the buy-and-rent sweet spot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84378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10–18% cheaper than new, modern finishes intact. Lower buy-in boosts yield—same rents on a smaller capital base.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0954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 buyers capture the full yield advantage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50215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~8% mortgage rates vs 4–5% net yields, leverage destroys cash flow. A 50% LTV cuts cash-on-cash return to ~1%. All-cash is king here.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86791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8679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 dominates both sales and rental markets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41605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181 rental listings/month in Miraflores vs 23 in La Molina. High tenant demand means faster leasing and less vacancy risk.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17,558 sales listings + rental market data across 6 premium Lima districts (2022–2025)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districts span $1,500–$2,300/m²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 is your first and biggest decision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0" y="1490472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1490472"/>
            <a:ext cx="3200400" cy="20116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0" y="1463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$2,300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385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Shape 8"/>
          <p:cNvSpPr/>
          <p:nvPr/>
        </p:nvSpPr>
        <p:spPr>
          <a:xfrm>
            <a:off x="1828800" y="1965960"/>
            <a:ext cx="3008376" cy="201168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93852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$2,251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140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8800" y="2441448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441448"/>
            <a:ext cx="2848356" cy="201168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41401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$2,211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95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916936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8" name="Shape 16"/>
          <p:cNvSpPr/>
          <p:nvPr/>
        </p:nvSpPr>
        <p:spPr>
          <a:xfrm>
            <a:off x="1828800" y="2916936"/>
            <a:ext cx="1760220" cy="201168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28895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$1,900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649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0" y="3392424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2" name="Shape 20"/>
          <p:cNvSpPr/>
          <p:nvPr/>
        </p:nvSpPr>
        <p:spPr>
          <a:xfrm>
            <a:off x="1828800" y="3392424"/>
            <a:ext cx="1056132" cy="201168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336499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$1,704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840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0" y="3867912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6" name="Shape 24"/>
          <p:cNvSpPr/>
          <p:nvPr/>
        </p:nvSpPr>
        <p:spPr>
          <a:xfrm>
            <a:off x="1828800" y="3867912"/>
            <a:ext cx="384048" cy="201168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38404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$1,514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1417320"/>
            <a:ext cx="265176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9" name="Shape 27"/>
          <p:cNvSpPr/>
          <p:nvPr/>
        </p:nvSpPr>
        <p:spPr>
          <a:xfrm>
            <a:off x="6217920" y="1417320"/>
            <a:ext cx="265176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insight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0" y="1874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~$800/m² gap means an 80m² apartment costs ~$63K more in Barranco than La Molina.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26974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tier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0" y="28803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 &amp; San Isidro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00800" y="32004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tier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0" y="3383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 &amp; La Molina — 30–45% more space per dollar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 | 2024-2025 listings by district | n = 11,398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Prices steady for 7+ quarters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market rewards negotiation, not urgency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54864" cy="1097280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2704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±3%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stable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68880" y="141732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0" name="Shape 8"/>
          <p:cNvSpPr/>
          <p:nvPr/>
        </p:nvSpPr>
        <p:spPr>
          <a:xfrm>
            <a:off x="2468880" y="1417320"/>
            <a:ext cx="54864" cy="1097280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52704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240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89120" y="141732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1417320"/>
            <a:ext cx="54864" cy="1097280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52704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26280" y="2240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69748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697480"/>
            <a:ext cx="54864" cy="1097280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80720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±5%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520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68880" y="269748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8880" y="2697480"/>
            <a:ext cx="54864" cy="1097280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26" name="Text 24"/>
          <p:cNvSpPr/>
          <p:nvPr/>
        </p:nvSpPr>
        <p:spPr>
          <a:xfrm>
            <a:off x="2606040" y="280720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0604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±7%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606040" y="3520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Moderate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389120" y="269748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0" name="Shape 28"/>
          <p:cNvSpPr/>
          <p:nvPr/>
        </p:nvSpPr>
        <p:spPr>
          <a:xfrm>
            <a:off x="4389120" y="269748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1" name="Text 29"/>
          <p:cNvSpPr/>
          <p:nvPr/>
        </p:nvSpPr>
        <p:spPr>
          <a:xfrm>
            <a:off x="4526280" y="280720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2628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±17%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26280" y="3520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Volatile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1417320"/>
            <a:ext cx="265176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0" y="1417320"/>
            <a:ext cx="265176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00800" y="1920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No upward pressure — take time to find the right unit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4231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Miraflores most predictable for risk-averse buyers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Barranco timing possible but carries risk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 per quarter | Q1 2024 – Q3 2025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factors explain most of what you'll pay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63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+$1,660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4688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6888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m² adds $1,460–$1,890 to total price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28016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9" name="Text 7"/>
          <p:cNvSpPr/>
          <p:nvPr/>
        </p:nvSpPr>
        <p:spPr>
          <a:xfrm>
            <a:off x="5074920" y="1463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–$1,386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76656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6656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year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492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10yr-old property costs ~$14K less than new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0175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6888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68880" y="33101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spot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703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Near-essential in premium districts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30175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±$51K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76656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66560" y="33101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swing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4920" y="3703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specs cost $51K more in Miraflores vs La Molina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Quantile regression (P50) on 11,398 listings | Pseudo R² = 0.43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Sweet spot: 3–10 years old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10–18% cheaper than new, modern finishes intact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447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Band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60320" y="144475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44475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84708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0–2 yr (new)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0" y="184708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$2,482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184708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$2,708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176272"/>
            <a:ext cx="4572000" cy="438912"/>
          </a:xfrm>
          <a:prstGeom prst="rect">
            <a:avLst/>
          </a:prstGeom>
          <a:solidFill>
            <a:srgbClr val="F4D8D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86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3–10 yr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0" y="22860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$2,237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2860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$2,281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615184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7249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11–20 yr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0" y="272491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0" y="272491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$2,070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054096"/>
            <a:ext cx="4572000" cy="438912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16382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21–40 yr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0320" y="316382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$1,853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316382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$1,927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493008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0273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41–80 yr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60320" y="360273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$1,729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0" y="360273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$1,702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0" y="1371600"/>
            <a:ext cx="3108960" cy="26517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0" y="1371600"/>
            <a:ext cx="310896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0" name="Text 28"/>
          <p:cNvSpPr/>
          <p:nvPr/>
        </p:nvSpPr>
        <p:spPr>
          <a:xfrm>
            <a:off x="5852160" y="1508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arbitrage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852160" y="18288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3–10yr San Isidro at $2,281/m² costs less than new Miraflores at $2,482/m²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52160" y="2560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85216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in Miraflores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16% in San Isidro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52160" y="32461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buying new (0–2yr)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 by building age band | 2024-2025 listings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unit, different district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 saves $51K vs Miraflores for identical specs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54864" cy="475488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270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50876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+$2,826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15544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Miraflores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965960"/>
            <a:ext cx="54864" cy="47548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756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2057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–$6,696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1031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Miraflores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51460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14600"/>
            <a:ext cx="54864" cy="475488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6243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6060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–$20,065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265176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Miraflores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063240"/>
            <a:ext cx="54864" cy="475488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172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3154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–$41,228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40480" y="320040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Miraflores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611880"/>
            <a:ext cx="54864" cy="475488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72160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0" y="37033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–$51,152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4048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Miraflores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4160520"/>
            <a:ext cx="5029200" cy="347472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224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 = reference ($0)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1417320"/>
            <a:ext cx="283464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2" name="Shape 30"/>
          <p:cNvSpPr/>
          <p:nvPr/>
        </p:nvSpPr>
        <p:spPr>
          <a:xfrm>
            <a:off x="5943600" y="1417320"/>
            <a:ext cx="283464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15544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means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2648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Pure location premium — identical specs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26480" y="23774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San Isidro only district above Miraflores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26480" y="28346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Surco &amp; La Molina are the value plays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Quantile regression coefficients vs Miraflores | Controls: area, age, bedrooms, garages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$200K: 3BR in Surco or 2BR in Miraflores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trade-offs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447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94560" y="14447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0" y="14447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64008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8928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$100–150K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64m² · 2BR · 17yr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189280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87m² · 3BR · 15yr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6400800" cy="5486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44144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$150–200K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44144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88m² · 2BR · 12yr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44144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105m² · 3BR · 13yr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64008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99008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$200–250K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94560" y="29900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103m² · 2BR · 10yr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29900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118m² · 3BR · 9yr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6400800" cy="5486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53872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$250–350K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94560" y="35387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120m² · 3BR · 7yr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35387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128m² · 3BR · 5yr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023360"/>
            <a:ext cx="6400800" cy="502920"/>
          </a:xfrm>
          <a:prstGeom prst="rect">
            <a:avLst/>
          </a:prstGeom>
          <a:solidFill>
            <a:srgbClr val="F4D8D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13308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25D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 consistently delivers +1 bedroom and 15–35% more space at every budget level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specs by budget range | 2024-2025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 &amp; Surco: 64% of all supply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~170 listings/month — the deepest markets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0" y="1490472"/>
            <a:ext cx="347472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1490472"/>
            <a:ext cx="3474720" cy="228600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0" y="143560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3,715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94960" y="163677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177/mo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9385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28800" y="1965960"/>
            <a:ext cx="347472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1" name="Shape 9"/>
          <p:cNvSpPr/>
          <p:nvPr/>
        </p:nvSpPr>
        <p:spPr>
          <a:xfrm>
            <a:off x="1828800" y="1965960"/>
            <a:ext cx="3335731" cy="228600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1109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3,563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94960" y="2112264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170/mo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" y="24140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0" y="2441448"/>
            <a:ext cx="347472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6" name="Shape 14"/>
          <p:cNvSpPr/>
          <p:nvPr/>
        </p:nvSpPr>
        <p:spPr>
          <a:xfrm>
            <a:off x="1828800" y="2441448"/>
            <a:ext cx="1250899" cy="228600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17" name="Text 15"/>
          <p:cNvSpPr/>
          <p:nvPr/>
        </p:nvSpPr>
        <p:spPr>
          <a:xfrm>
            <a:off x="5394960" y="238658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2587752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63/mo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28895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828800" y="2916936"/>
            <a:ext cx="347472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1" name="Shape 19"/>
          <p:cNvSpPr/>
          <p:nvPr/>
        </p:nvSpPr>
        <p:spPr>
          <a:xfrm>
            <a:off x="1828800" y="2916936"/>
            <a:ext cx="1146658" cy="228600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86207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1,224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94960" y="3063240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58/mo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48640" y="33649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0" y="3392424"/>
            <a:ext cx="347472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6" name="Shape 24"/>
          <p:cNvSpPr/>
          <p:nvPr/>
        </p:nvSpPr>
        <p:spPr>
          <a:xfrm>
            <a:off x="1828800" y="3392424"/>
            <a:ext cx="729691" cy="2286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7" name="Text 25"/>
          <p:cNvSpPr/>
          <p:nvPr/>
        </p:nvSpPr>
        <p:spPr>
          <a:xfrm>
            <a:off x="5394960" y="33375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94960" y="3538728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37/mo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48640" y="3840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828800" y="3867912"/>
            <a:ext cx="347472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31" name="Shape 29"/>
          <p:cNvSpPr/>
          <p:nvPr/>
        </p:nvSpPr>
        <p:spPr>
          <a:xfrm>
            <a:off x="1828800" y="3867912"/>
            <a:ext cx="729691" cy="228600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32" name="Text 30"/>
          <p:cNvSpPr/>
          <p:nvPr/>
        </p:nvSpPr>
        <p:spPr>
          <a:xfrm>
            <a:off x="5394960" y="381304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94960" y="401421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37/mo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17920" y="1417320"/>
            <a:ext cx="265176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0" y="1417320"/>
            <a:ext cx="265176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15544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Advice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00800" y="1920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 volume = more options, better negotiating power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4231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Barranco (37/mo) — move quickly on good units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La Molina low volume but 88% under $200K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listings by district | 2024-2025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RENTAL &amp;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INVESTMENT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1371600" cy="36576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Yields, rent trends, leverage analysis, and optimal property profiles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64592" cy="164592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404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Net Yields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3886200"/>
            <a:ext cx="164592" cy="164592"/>
          </a:xfrm>
          <a:prstGeom prst="ellipse">
            <a:avLst/>
          </a:prstGeom>
          <a:solidFill>
            <a:srgbClr val="9B8AA6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38404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Return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3886200"/>
            <a:ext cx="164592" cy="164592"/>
          </a:xfrm>
          <a:prstGeom prst="ellipse">
            <a:avLst/>
          </a:prstGeom>
          <a:solidFill>
            <a:srgbClr val="6B9AC4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38404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Analysis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64592" cy="164592"/>
          </a:xfrm>
          <a:prstGeom prst="ellipse">
            <a:avLst/>
          </a:prstGeom>
          <a:solidFill>
            <a:srgbClr val="7BA585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Rental Liquidity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08960" y="4297680"/>
            <a:ext cx="164592" cy="164592"/>
          </a:xfrm>
          <a:prstGeom prst="ellipse">
            <a:avLst/>
          </a:prstGeom>
          <a:solidFill>
            <a:srgbClr val="8B9DA5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Sweet Spots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0" y="4297680"/>
            <a:ext cx="164592" cy="164592"/>
          </a:xfrm>
          <a:prstGeom prst="ellipse">
            <a:avLst/>
          </a:prstGeom>
          <a:solidFill>
            <a:srgbClr val="C4956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 Flow Profiles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rental yields span 4.7–5.4%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 leads on yield, but net yields narrow the gap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0" y="1490472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1490472"/>
            <a:ext cx="3200400" cy="20116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0" y="1463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385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Shape 8"/>
          <p:cNvSpPr/>
          <p:nvPr/>
        </p:nvSpPr>
        <p:spPr>
          <a:xfrm>
            <a:off x="1828800" y="1965960"/>
            <a:ext cx="1778000" cy="201168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93852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140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8800" y="2441448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441448"/>
            <a:ext cx="1422000" cy="201168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41401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95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916936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8" name="Shape 16"/>
          <p:cNvSpPr/>
          <p:nvPr/>
        </p:nvSpPr>
        <p:spPr>
          <a:xfrm>
            <a:off x="1828800" y="2916936"/>
            <a:ext cx="1422000" cy="201168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28895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649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0" y="3392424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2" name="Shape 20"/>
          <p:cNvSpPr/>
          <p:nvPr/>
        </p:nvSpPr>
        <p:spPr>
          <a:xfrm>
            <a:off x="1828800" y="3392424"/>
            <a:ext cx="1067000" cy="201168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336499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840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0" y="3867912"/>
            <a:ext cx="3200400" cy="20116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6" name="Shape 24"/>
          <p:cNvSpPr/>
          <p:nvPr/>
        </p:nvSpPr>
        <p:spPr>
          <a:xfrm>
            <a:off x="1828800" y="3867912"/>
            <a:ext cx="711000" cy="201168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38404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1417320"/>
            <a:ext cx="265176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9" name="Shape 27"/>
          <p:cNvSpPr/>
          <p:nvPr/>
        </p:nvSpPr>
        <p:spPr>
          <a:xfrm>
            <a:off x="6217920" y="1417320"/>
            <a:ext cx="265176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insight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0" y="1874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~15% expenses (maintenance, taxes, vacancy), net yields compress to 4.0–4.6%—still above local bank deposits at ~3%.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26974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yield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0" y="28803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Barranco: $168K median, $750/mo rent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00800" y="32004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Lowest yield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0" y="3383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Isidro: $215K median, $850/mo rent — but –7.9% price CAGR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rental yield = annual rent ÷ purchase price | Median rents and prices by district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return: net yield minus price decline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 leads; San Isidro’s price drop wipes out rental income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54864" cy="475488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270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50876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15544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 4.1% – price decline 1.2%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965960"/>
            <a:ext cx="54864" cy="47548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756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2057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1031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 4.3% – price decline 1.7%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51460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14600"/>
            <a:ext cx="54864" cy="475488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6243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6060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265176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 4.6% – price decline 2.1%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063240"/>
            <a:ext cx="54864" cy="475488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172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3154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40480" y="320040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 4.2% – price decline 2.1%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502920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611880"/>
            <a:ext cx="54864" cy="475488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72160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0" y="37033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4048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 4.2% – price decline 2.4%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4160520"/>
            <a:ext cx="5029200" cy="347472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224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Isidro: –3.9% — price decline of 7.9%/yr overwhelms 4.0% net yield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1417320"/>
            <a:ext cx="283464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2" name="Shape 30"/>
          <p:cNvSpPr/>
          <p:nvPr/>
        </p:nvSpPr>
        <p:spPr>
          <a:xfrm>
            <a:off x="5943600" y="1417320"/>
            <a:ext cx="283464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15544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means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2648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Total return = net yield + price CAGR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26480" y="23774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Stable prices matter more than high gross yields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26480" y="28346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San Isidro’s –7.9% price CAGR wipes out rental income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return = net yield + price CAGR | Median values by district, 2022–2025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destroys cash flow at current rates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63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~4.3%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4688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6888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across 6 districts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annual return on an all-cash purchase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28016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9" name="Text 7"/>
          <p:cNvSpPr/>
          <p:nvPr/>
        </p:nvSpPr>
        <p:spPr>
          <a:xfrm>
            <a:off x="5074920" y="1463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76656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MORTGAGE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66560" y="1755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 Peru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492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bank rates dwarf net rental yields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0175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6888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CASH-ON-CASH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68880" y="33101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50% LTV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703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halves the effective return to the investor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4023360" cy="1371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30175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76656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66560" y="33101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~65% LTV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4920" y="3703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leverage wipes out cash flow entirely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yield avg ~4.3% | Mortgage rate ~8% (Peru, 2024–2025) | Cash-on-cash = (rent – expenses – debt service) ÷ equity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Rental liquidity and investment sweet spots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 dominates tenant demand; mid-age buildings boost yields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54864" cy="1097280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2704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181/mo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liquid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68880" y="141732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0" name="Shape 8"/>
          <p:cNvSpPr/>
          <p:nvPr/>
        </p:nvSpPr>
        <p:spPr>
          <a:xfrm>
            <a:off x="2468880" y="1417320"/>
            <a:ext cx="54864" cy="1097280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52704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104/mo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240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 demand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89120" y="141732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1417320"/>
            <a:ext cx="54864" cy="1097280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52704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76/mo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26280" y="2240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Moderate depth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69748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697480"/>
            <a:ext cx="54864" cy="1097280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80720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46/mo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520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Niche market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68880" y="269748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8880" y="2697480"/>
            <a:ext cx="54864" cy="1097280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26" name="Text 24"/>
          <p:cNvSpPr/>
          <p:nvPr/>
        </p:nvSpPr>
        <p:spPr>
          <a:xfrm>
            <a:off x="2606040" y="280720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0604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40/mo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606040" y="3520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volume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389120" y="2697480"/>
            <a:ext cx="1783080" cy="109728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0" name="Shape 28"/>
          <p:cNvSpPr/>
          <p:nvPr/>
        </p:nvSpPr>
        <p:spPr>
          <a:xfrm>
            <a:off x="4389120" y="269748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1" name="Text 29"/>
          <p:cNvSpPr/>
          <p:nvPr/>
        </p:nvSpPr>
        <p:spPr>
          <a:xfrm>
            <a:off x="4526280" y="280720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2628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23/mo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26280" y="3520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Least liquid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1417320"/>
            <a:ext cx="2651760" cy="25603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0" y="1417320"/>
            <a:ext cx="2651760" cy="32004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Sweet spots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00800" y="1920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3–10 year buildings: 10–18% below new-build pricing, modern finishes intact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4231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60–90 m² units: optimal rent-per-m² in most districts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Miraflores + Surco: fastest leasing, lowest vacancy risk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Rental listings per month by district | Age and size yield analysis from market data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DIVES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1371600" cy="36576"/>
          </a:xfrm>
          <a:prstGeom prst="rect">
            <a:avLst/>
          </a:prstGeom>
          <a:solidFill>
            <a:srgbClr val="E07A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data for each of Lima's six premium districts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64592" cy="164592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404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3886200"/>
            <a:ext cx="164592" cy="164592"/>
          </a:xfrm>
          <a:prstGeom prst="ellipse">
            <a:avLst/>
          </a:prstGeom>
          <a:solidFill>
            <a:srgbClr val="9B8AA6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38404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3886200"/>
            <a:ext cx="164592" cy="164592"/>
          </a:xfrm>
          <a:prstGeom prst="ellipse">
            <a:avLst/>
          </a:prstGeom>
          <a:solidFill>
            <a:srgbClr val="6B9AC4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38404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64592" cy="164592"/>
          </a:xfrm>
          <a:prstGeom prst="ellipse">
            <a:avLst/>
          </a:prstGeom>
          <a:solidFill>
            <a:srgbClr val="7BA585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08960" y="4297680"/>
            <a:ext cx="164592" cy="164592"/>
          </a:xfrm>
          <a:prstGeom prst="ellipse">
            <a:avLst/>
          </a:prstGeom>
          <a:solidFill>
            <a:srgbClr val="8B9DA5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0" y="4297680"/>
            <a:ext cx="164592" cy="164592"/>
          </a:xfrm>
          <a:prstGeom prst="ellipse">
            <a:avLst/>
          </a:prstGeom>
          <a:solidFill>
            <a:srgbClr val="C4956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Lima's smallest premium market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Bohemian appeal at top-tier prices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642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price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6642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$172,500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842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$2,300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4028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042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unit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75m² · 2BR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243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6243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years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443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Listings/month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29443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644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with garage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264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New-build premium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+15.4%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044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change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03120" y="3904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CONFIGURATION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3280" y="1600200"/>
            <a:ext cx="2743200" cy="2926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1645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776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1645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$/m²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83280" y="1892808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1984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1BR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776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55m²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49240" y="198424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$2,625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2276856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429000" y="2368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2BR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776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75m²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49240" y="236829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$2,348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2660904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/>
          <p:nvPr/>
        </p:nvSpPr>
        <p:spPr>
          <a:xfrm>
            <a:off x="3429000" y="27523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3BR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9776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6634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92m²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49240" y="275234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$1,864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1280160"/>
            <a:ext cx="2560320" cy="28803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280160"/>
            <a:ext cx="45720" cy="288036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54" name="Text 52"/>
          <p:cNvSpPr/>
          <p:nvPr/>
        </p:nvSpPr>
        <p:spPr>
          <a:xfrm>
            <a:off x="644652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4A5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46520" y="16916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Smallest district: 787 listings vs 3,700+ in Surco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46520" y="2286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Highest YoY growth (+7.6%) — strong upward momentum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46520" y="2880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2-bed new-build premium 15.4%, 3-bed 28.7%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46520" y="34747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63% garage rate — lowest among premium districts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8640" y="4251960"/>
            <a:ext cx="5577840" cy="2743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31596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TREND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691640" y="4315968"/>
            <a:ext cx="4434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 YoY — limited supply and gentrification driving prices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Barranco | 787 listings (2024-2025) | ~37/month avg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 txBox="1"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r>
              <a:rPr lang="en-US" sz="2600" dirty="0" b="1">
                <a:solidFill>
                  <a:srgbClr val="E07A5F"/>
                </a:solidFill>
                <a:latin typeface="Inter"/>
                <a:cs typeface="Inter"/>
              </a:rPr>
              <a:t>Barranco</a:t>
            </a:r>
            <a:r>
              <a:rPr lang="en-US" sz="2600" dirty="0">
                <a:solidFill>
                  <a:srgbClr val="264653"/>
                </a:solidFill>
                <a:latin typeface="Inter"/>
                <a:cs typeface="Inter"/>
              </a:rPr>
              <a:t xml:space="preserve"> — Rental &amp; investment profile</a:t>
            </a:r>
          </a:p>
        </p:txBody>
      </p:sp>
      <p:sp>
        <p:nvSpPr>
          <p:cNvPr id="0" name=""/>
          <p:cNvSpPr/>
          <p:nvPr/>
        </p:nvSpPr>
        <p:spPr>
          <a:xfrm>
            <a:off x="548640" y="914400"/>
            <a:ext cx="8046720" cy="18288"/>
          </a:xfrm>
          <a:prstGeom prst="rect">
            <a:avLst/>
          </a:prstGeom>
          <a:solidFill>
            <a:srgbClr val="E07A5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/>
          <p:nvPr/>
        </p:nvSpPr>
        <p:spPr>
          <a:xfrm>
            <a:off x="54864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5.4%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GROSS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$750/mo ÷ $168,000</a:t>
            </a:r>
          </a:p>
        </p:txBody>
      </p:sp>
      <p:sp>
        <p:nvSpPr>
          <p:cNvPr id="0" name=""/>
          <p:cNvSpPr/>
          <p:nvPr/>
        </p:nvSpPr>
        <p:spPr>
          <a:xfrm>
            <a:off x="324612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4.6%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NET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After ~15% expenses</a:t>
            </a:r>
          </a:p>
        </p:txBody>
      </p:sp>
      <p:sp>
        <p:nvSpPr>
          <p:cNvPr id="0" name=""/>
          <p:cNvSpPr/>
          <p:nvPr/>
        </p:nvSpPr>
        <p:spPr>
          <a:xfrm>
            <a:off x="594360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059669"/>
                </a:solidFill>
                <a:latin typeface="Inter"/>
                <a:cs typeface="Inter"/>
              </a:rPr>
              <a:t>+2.4%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TOTAL RETURN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Net yield -2.1% price CAGR</a:t>
            </a:r>
          </a:p>
        </p:txBody>
      </p:sp>
      <p:sp>
        <p:nvSpPr>
          <p:cNvPr id="0" name=""/>
          <p:cNvSpPr/>
          <p:nvPr/>
        </p:nvSpPr>
        <p:spPr>
          <a:xfrm>
            <a:off x="54864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$750/mo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MEDIAN RENT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Rent CAGR +1.7%/yr</a:t>
            </a:r>
          </a:p>
        </p:txBody>
      </p:sp>
      <p:sp>
        <p:nvSpPr>
          <p:cNvPr id="0" name=""/>
          <p:cNvSpPr/>
          <p:nvPr/>
        </p:nvSpPr>
        <p:spPr>
          <a:xfrm>
            <a:off x="324612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46/mo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RENTAL LISTINGS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Active listings per month</a:t>
            </a:r>
          </a:p>
        </p:txBody>
      </p:sp>
      <p:sp>
        <p:nvSpPr>
          <p:cNvPr id="0" name=""/>
          <p:cNvSpPr/>
          <p:nvPr/>
        </p:nvSpPr>
        <p:spPr>
          <a:xfrm>
            <a:off x="594360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$10.6/m²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IMPLIED RENT/M²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Based on 2-bed median $/m²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20040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INVESTOR PROFILE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406140"/>
            <a:ext cx="466344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1-bed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$2,625/m²  •  55 m²  •  $150,000 median  •  +4%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2-bed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$2,348/m²  •  75 m²  •  $175,000 median  •  +15%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3-bed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$1,864/m²  •  92 m²  •  $179,510 median  •  +29% new premium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200400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OPTIMAL CONFIG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4061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dirty="0" b="1">
                <a:solidFill>
                  <a:srgbClr val="264653"/>
                </a:solidFill>
                <a:latin typeface="Inter"/>
                <a:cs typeface="Inter"/>
              </a:rPr>
              <a:t>2-bed · 70–80 m² · 3–10 yr old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703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Lowest new-build premium (15%), strong rent growth (+1.7%/yr), and highest gross yield among all six districts. Compact 2-beds in this artsy, walkable neighbourhood attract short- and mid-term tenants.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4640580"/>
            <a:ext cx="80467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All-cash: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$645/mo net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50% LTV: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$85/mo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Sweet-spot age: 3–10 yr  (–3.5% at 3–5 yr, –7.3% at 6–10 yr)</a:t>
            </a:r>
          </a:p>
        </p:txBody>
      </p:sp>
      <p:sp>
        <p:nvSpPr>
          <p:cNvPr id="0" name=""/>
          <p:cNvSpPr txBox="1"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900" dirty="0">
                <a:solidFill>
                  <a:srgbClr val="6B7280"/>
                </a:solidFill>
                <a:latin typeface="Inter"/>
                <a:cs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Maximum space at minimum price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more m² than Miraflores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642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price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6642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$160,000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842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$1,514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4028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042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unit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101m² · 3BR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243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6243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years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443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Listings/month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29443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644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with garage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264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New-build premium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–3.9%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044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change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03120" y="3904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–2.8%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CONFIGURATION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3280" y="1600200"/>
            <a:ext cx="2743200" cy="2926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1645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776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1645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$/m²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83280" y="1892808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1984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1BR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776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49240" y="198424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2276856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429000" y="2368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2BR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776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73m²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49240" y="236829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$1,474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2660904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/>
          <p:nvPr/>
        </p:nvSpPr>
        <p:spPr>
          <a:xfrm>
            <a:off x="3429000" y="27523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3BR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9776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6634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101m²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49240" y="275234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$1,509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1280160"/>
            <a:ext cx="2560320" cy="28803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280160"/>
            <a:ext cx="45720" cy="2880360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54" name="Text 52"/>
          <p:cNvSpPr/>
          <p:nvPr/>
        </p:nvSpPr>
        <p:spPr>
          <a:xfrm>
            <a:off x="644652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B8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46520" y="16916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Lowest $/m² at $1,514 — 34% below Miraflores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46520" y="2286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Largest typical unit at 101m²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46520" y="2880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84% garage rate — suburban character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46520" y="34747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Only district with negative YoY (–2.8%)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8640" y="4251960"/>
            <a:ext cx="5577840" cy="27432"/>
          </a:xfrm>
          <a:prstGeom prst="rect">
            <a:avLst/>
          </a:prstGeom>
          <a:solidFill>
            <a:srgbClr val="9B8AA6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31596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TREND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691640" y="4315968"/>
            <a:ext cx="4434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–2.8% YoY — buyers have negotiating leverage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Molina | 786 listings (2024-2025) | ~37/month avg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 txBox="1"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r>
              <a:rPr lang="en-US" sz="2600" dirty="0" b="1">
                <a:solidFill>
                  <a:srgbClr val="E07A5F"/>
                </a:solidFill>
                <a:latin typeface="Inter"/>
                <a:cs typeface="Inter"/>
              </a:rPr>
              <a:t>La Molina</a:t>
            </a:r>
            <a:r>
              <a:rPr lang="en-US" sz="2600" dirty="0">
                <a:solidFill>
                  <a:srgbClr val="264653"/>
                </a:solidFill>
                <a:latin typeface="Inter"/>
                <a:cs typeface="Inter"/>
              </a:rPr>
              <a:t xml:space="preserve"> — Rental &amp; investment profile</a:t>
            </a:r>
          </a:p>
        </p:txBody>
      </p:sp>
      <p:sp>
        <p:nvSpPr>
          <p:cNvPr id="0" name=""/>
          <p:cNvSpPr/>
          <p:nvPr/>
        </p:nvSpPr>
        <p:spPr>
          <a:xfrm>
            <a:off x="548640" y="914400"/>
            <a:ext cx="8046720" cy="18288"/>
          </a:xfrm>
          <a:prstGeom prst="rect">
            <a:avLst/>
          </a:prstGeom>
          <a:solidFill>
            <a:srgbClr val="E07A5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/>
          <p:nvPr/>
        </p:nvSpPr>
        <p:spPr>
          <a:xfrm>
            <a:off x="54864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4.9%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GROSS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$595/mo ÷ $145,000</a:t>
            </a:r>
          </a:p>
        </p:txBody>
      </p:sp>
      <p:sp>
        <p:nvSpPr>
          <p:cNvPr id="0" name=""/>
          <p:cNvSpPr/>
          <p:nvPr/>
        </p:nvSpPr>
        <p:spPr>
          <a:xfrm>
            <a:off x="324612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4.2%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NET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After ~15% expenses</a:t>
            </a:r>
          </a:p>
        </p:txBody>
      </p:sp>
      <p:sp>
        <p:nvSpPr>
          <p:cNvPr id="0" name=""/>
          <p:cNvSpPr/>
          <p:nvPr/>
        </p:nvSpPr>
        <p:spPr>
          <a:xfrm>
            <a:off x="594360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059669"/>
                </a:solidFill>
                <a:latin typeface="Inter"/>
                <a:cs typeface="Inter"/>
              </a:rPr>
              <a:t>+2.1%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TOTAL RETURN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Net yield -2.1% price CAGR</a:t>
            </a:r>
          </a:p>
        </p:txBody>
      </p:sp>
      <p:sp>
        <p:nvSpPr>
          <p:cNvPr id="0" name=""/>
          <p:cNvSpPr/>
          <p:nvPr/>
        </p:nvSpPr>
        <p:spPr>
          <a:xfrm>
            <a:off x="54864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$595/mo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MEDIAN RENT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Rent CAGR +0.4%/yr</a:t>
            </a:r>
          </a:p>
        </p:txBody>
      </p:sp>
      <p:sp>
        <p:nvSpPr>
          <p:cNvPr id="0" name=""/>
          <p:cNvSpPr/>
          <p:nvPr/>
        </p:nvSpPr>
        <p:spPr>
          <a:xfrm>
            <a:off x="324612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23/mo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RENTAL LISTINGS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Active listings per month</a:t>
            </a:r>
          </a:p>
        </p:txBody>
      </p:sp>
      <p:sp>
        <p:nvSpPr>
          <p:cNvPr id="0" name=""/>
          <p:cNvSpPr/>
          <p:nvPr/>
        </p:nvSpPr>
        <p:spPr>
          <a:xfrm>
            <a:off x="594360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$6.0/m²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IMPLIED RENT/M²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Based on 2-bed median $/m²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20040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INVESTOR PROFILE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406140"/>
            <a:ext cx="4663440" cy="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2-bed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$1,474/m²  •  73 m²  •  $119,500 median  •  +4%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3-bed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$1,509/m²  •  101 m²  •  $155,000 median  •  -4% (resale ≥ new)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200400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OPTIMAL CONFIG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4061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dirty="0" b="1">
                <a:solidFill>
                  <a:srgbClr val="264653"/>
                </a:solidFill>
                <a:latin typeface="Inter"/>
                <a:cs typeface="Inter"/>
              </a:rPr>
              <a:t>3-bed · 95–105 m² · 11–20 yr old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703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Lowest entry price ($145K median) and negligible new-build premium mean resale units offer the same value. Family-oriented, low-density suburb with stable long-term tenants—but low liquidity (23 listings/mo).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4640580"/>
            <a:ext cx="80467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All-cash: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$508/mo net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50% LTV: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$25/mo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Sweet-spot age: 11–20 yr  (Minimal depreciation; resale often priced at or above new-build)</a:t>
            </a:r>
          </a:p>
        </p:txBody>
      </p:sp>
      <p:sp>
        <p:nvSpPr>
          <p:cNvPr id="0" name=""/>
          <p:cNvSpPr txBox="1"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900" dirty="0">
                <a:solidFill>
                  <a:srgbClr val="6B7280"/>
                </a:solidFill>
                <a:latin typeface="Inter"/>
                <a:cs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market anchor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Deepest inventory, most predictable prices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642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price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6642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$200,000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842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4028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042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unit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95m² · 2BR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243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6243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years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443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Listings/month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29443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~170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644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with garage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264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New-build premium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+15.6%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044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change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03120" y="3904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CONFIGURATION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3280" y="1600200"/>
            <a:ext cx="2743200" cy="2926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1645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776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1645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$/m²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83280" y="1892808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1984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1BR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776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65m²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49240" y="198424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$2,337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2276856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429000" y="2368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2BR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776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95m²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49240" y="236829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$2,242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2660904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/>
          <p:nvPr/>
        </p:nvSpPr>
        <p:spPr>
          <a:xfrm>
            <a:off x="3429000" y="27523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3BR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9776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$230K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6634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113m²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49240" y="275234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$2,100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1280160"/>
            <a:ext cx="2560320" cy="28803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280160"/>
            <a:ext cx="45720" cy="2880360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54" name="Text 52"/>
          <p:cNvSpPr/>
          <p:nvPr/>
        </p:nvSpPr>
        <p:spPr>
          <a:xfrm>
            <a:off x="644652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9A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46520" y="16916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Largest inventory: 3,563 listings — max choice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46520" y="2286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Most stable: ±3% quarterly variance over 7 quarters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46520" y="2880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15.6% new-build premium (2-bed)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46520" y="34747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Best quality/location balance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8640" y="4251960"/>
            <a:ext cx="5577840" cy="27432"/>
          </a:xfrm>
          <a:prstGeom prst="rect">
            <a:avLst/>
          </a:prstGeom>
          <a:solidFill>
            <a:srgbClr val="6B9AC4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31596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TREND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691640" y="4315968"/>
            <a:ext cx="4434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 YoY, ±3% quarterly — the most predictable market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Miraflores | 3,563 listings (2024-2025) | ~170/month avg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 txBox="1"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r>
              <a:rPr lang="en-US" sz="2600" dirty="0" b="1">
                <a:solidFill>
                  <a:srgbClr val="E07A5F"/>
                </a:solidFill>
                <a:latin typeface="Inter"/>
                <a:cs typeface="Inter"/>
              </a:rPr>
              <a:t>Miraflores</a:t>
            </a:r>
            <a:r>
              <a:rPr lang="en-US" sz="2600" dirty="0">
                <a:solidFill>
                  <a:srgbClr val="264653"/>
                </a:solidFill>
                <a:latin typeface="Inter"/>
                <a:cs typeface="Inter"/>
              </a:rPr>
              <a:t xml:space="preserve"> — Rental &amp; investment profile</a:t>
            </a:r>
          </a:p>
        </p:txBody>
      </p:sp>
      <p:sp>
        <p:nvSpPr>
          <p:cNvPr id="0" name=""/>
          <p:cNvSpPr/>
          <p:nvPr/>
        </p:nvSpPr>
        <p:spPr>
          <a:xfrm>
            <a:off x="548640" y="914400"/>
            <a:ext cx="8046720" cy="18288"/>
          </a:xfrm>
          <a:prstGeom prst="rect">
            <a:avLst/>
          </a:prstGeom>
          <a:solidFill>
            <a:srgbClr val="E07A5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/>
          <p:nvPr/>
        </p:nvSpPr>
        <p:spPr>
          <a:xfrm>
            <a:off x="54864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5.0%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GROSS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$900/mo ÷ $215,000</a:t>
            </a:r>
          </a:p>
        </p:txBody>
      </p:sp>
      <p:sp>
        <p:nvSpPr>
          <p:cNvPr id="0" name=""/>
          <p:cNvSpPr/>
          <p:nvPr/>
        </p:nvSpPr>
        <p:spPr>
          <a:xfrm>
            <a:off x="324612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4.3%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NET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After ~15% expenses</a:t>
            </a:r>
          </a:p>
        </p:txBody>
      </p:sp>
      <p:sp>
        <p:nvSpPr>
          <p:cNvPr id="0" name=""/>
          <p:cNvSpPr/>
          <p:nvPr/>
        </p:nvSpPr>
        <p:spPr>
          <a:xfrm>
            <a:off x="594360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059669"/>
                </a:solidFill>
                <a:latin typeface="Inter"/>
                <a:cs typeface="Inter"/>
              </a:rPr>
              <a:t>+2.6%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TOTAL RETURN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Net yield -1.7% price CAGR</a:t>
            </a:r>
          </a:p>
        </p:txBody>
      </p:sp>
      <p:sp>
        <p:nvSpPr>
          <p:cNvPr id="0" name=""/>
          <p:cNvSpPr/>
          <p:nvPr/>
        </p:nvSpPr>
        <p:spPr>
          <a:xfrm>
            <a:off x="54864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$900/mo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MEDIAN RENT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Rent CAGR +1.4%/yr</a:t>
            </a:r>
          </a:p>
        </p:txBody>
      </p:sp>
      <p:sp>
        <p:nvSpPr>
          <p:cNvPr id="0" name=""/>
          <p:cNvSpPr/>
          <p:nvPr/>
        </p:nvSpPr>
        <p:spPr>
          <a:xfrm>
            <a:off x="324612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181/mo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RENTAL LISTINGS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Active listings per month</a:t>
            </a:r>
          </a:p>
        </p:txBody>
      </p:sp>
      <p:sp>
        <p:nvSpPr>
          <p:cNvPr id="0" name=""/>
          <p:cNvSpPr/>
          <p:nvPr/>
        </p:nvSpPr>
        <p:spPr>
          <a:xfrm>
            <a:off x="594360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$9.3/m²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IMPLIED RENT/M²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Based on 2-bed median $/m²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20040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INVESTOR PROFILE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406140"/>
            <a:ext cx="466344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1-bed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$2,337/m²  •  65 m²  •  $160,000 median  •  +12%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2-bed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$2,242/m²  •  95 m²  •  $210,000 median  •  +16%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3-bed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$2,100/m²  •  113 m²  •  $230,000 median  •  +15% new premium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200400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OPTIMAL CONFIG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4061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dirty="0" b="1">
                <a:solidFill>
                  <a:srgbClr val="264653"/>
                </a:solidFill>
                <a:latin typeface="Inter"/>
                <a:cs typeface="Inter"/>
              </a:rPr>
              <a:t>2-bed · 85–100 m² · 3–10 yr old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703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Lima's most liquid rental market (181 listings/mo) with the strongest rent growth (+1.4%/yr). Higher entry price ($210K for 2-bed) offset by near-zero vacancy risk and premium tenant pool (expats, executives).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4640580"/>
            <a:ext cx="80467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All-cash: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$770/mo net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50% LTV: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$50/mo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Sweet-spot age: 3–10 yr  (–8.4% at 3–5 yr, –11.4% at 6–10 yr)</a:t>
            </a:r>
          </a:p>
        </p:txBody>
      </p:sp>
      <p:sp>
        <p:nvSpPr>
          <p:cNvPr id="0" name=""/>
          <p:cNvSpPr txBox="1"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900" dirty="0">
                <a:solidFill>
                  <a:srgbClr val="6B7280"/>
                </a:solidFill>
                <a:latin typeface="Inter"/>
                <a:cs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Family-sized units at mid-tier prices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 of stock is 3BR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642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price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6642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$185,000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842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$1,900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4028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042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unit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112m² · 3BR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243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6243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years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443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Listings/month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29443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~63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644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with garage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264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New-build premium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+21.6%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044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change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03120" y="3904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CONFIGURATION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3280" y="1600200"/>
            <a:ext cx="2743200" cy="2926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1645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776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1645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$/m²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83280" y="1892808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1984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1BR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776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60m²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49240" y="198424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$2,039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2276856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429000" y="2368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2BR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776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91m²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49240" y="236829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$1,845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2660904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/>
          <p:nvPr/>
        </p:nvSpPr>
        <p:spPr>
          <a:xfrm>
            <a:off x="3429000" y="27523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3BR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9776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$215K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6634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112m²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49240" y="275234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$1,941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1280160"/>
            <a:ext cx="2560320" cy="28803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280160"/>
            <a:ext cx="45720" cy="2880360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54" name="Text 52"/>
          <p:cNvSpPr/>
          <p:nvPr/>
        </p:nvSpPr>
        <p:spPr>
          <a:xfrm>
            <a:off x="644652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BA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46520" y="16916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71% of stock is 3BR — highest family concentration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46520" y="2286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$1,900/m² — between value and premium tiers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46520" y="2880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112m² median — largest family units after La Molina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46520" y="34747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+3.7% YoY — steady appreciation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8640" y="4251960"/>
            <a:ext cx="5577840" cy="27432"/>
          </a:xfrm>
          <a:prstGeom prst="rect">
            <a:avLst/>
          </a:prstGeom>
          <a:solidFill>
            <a:srgbClr val="7BA585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31596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TREND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691640" y="4315968"/>
            <a:ext cx="4434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 YoY — stable family district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Borja | 1,323 listings (2024-2025) | ~63/month avg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 txBox="1"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r>
              <a:rPr lang="en-US" sz="2600" dirty="0" b="1">
                <a:solidFill>
                  <a:srgbClr val="E07A5F"/>
                </a:solidFill>
                <a:latin typeface="Inter"/>
                <a:cs typeface="Inter"/>
              </a:rPr>
              <a:t>San Borja</a:t>
            </a:r>
            <a:r>
              <a:rPr lang="en-US" sz="2600" dirty="0">
                <a:solidFill>
                  <a:srgbClr val="264653"/>
                </a:solidFill>
                <a:latin typeface="Inter"/>
                <a:cs typeface="Inter"/>
              </a:rPr>
              <a:t xml:space="preserve"> — Rental &amp; investment profile</a:t>
            </a:r>
          </a:p>
        </p:txBody>
      </p:sp>
      <p:sp>
        <p:nvSpPr>
          <p:cNvPr id="0" name=""/>
          <p:cNvSpPr/>
          <p:nvPr/>
        </p:nvSpPr>
        <p:spPr>
          <a:xfrm>
            <a:off x="548640" y="914400"/>
            <a:ext cx="8046720" cy="18288"/>
          </a:xfrm>
          <a:prstGeom prst="rect">
            <a:avLst/>
          </a:prstGeom>
          <a:solidFill>
            <a:srgbClr val="E07A5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/>
          <p:nvPr/>
        </p:nvSpPr>
        <p:spPr>
          <a:xfrm>
            <a:off x="54864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4.8%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GROSS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$800/mo ÷ $200,180</a:t>
            </a:r>
          </a:p>
        </p:txBody>
      </p:sp>
      <p:sp>
        <p:nvSpPr>
          <p:cNvPr id="0" name=""/>
          <p:cNvSpPr/>
          <p:nvPr/>
        </p:nvSpPr>
        <p:spPr>
          <a:xfrm>
            <a:off x="324612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4.1%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NET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After ~15% expenses</a:t>
            </a:r>
          </a:p>
        </p:txBody>
      </p:sp>
      <p:sp>
        <p:nvSpPr>
          <p:cNvPr id="0" name=""/>
          <p:cNvSpPr/>
          <p:nvPr/>
        </p:nvSpPr>
        <p:spPr>
          <a:xfrm>
            <a:off x="594360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059669"/>
                </a:solidFill>
                <a:latin typeface="Inter"/>
                <a:cs typeface="Inter"/>
              </a:rPr>
              <a:t>+2.9%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TOTAL RETURN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Net yield -1.2% price CAGR</a:t>
            </a:r>
          </a:p>
        </p:txBody>
      </p:sp>
      <p:sp>
        <p:nvSpPr>
          <p:cNvPr id="0" name=""/>
          <p:cNvSpPr/>
          <p:nvPr/>
        </p:nvSpPr>
        <p:spPr>
          <a:xfrm>
            <a:off x="54864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$800/mo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MEDIAN RENT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Rent CAGR +1.6%/yr</a:t>
            </a:r>
          </a:p>
        </p:txBody>
      </p:sp>
      <p:sp>
        <p:nvSpPr>
          <p:cNvPr id="0" name=""/>
          <p:cNvSpPr/>
          <p:nvPr/>
        </p:nvSpPr>
        <p:spPr>
          <a:xfrm>
            <a:off x="324612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40/mo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RENTAL LISTINGS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Active listings per month</a:t>
            </a:r>
          </a:p>
        </p:txBody>
      </p:sp>
      <p:sp>
        <p:nvSpPr>
          <p:cNvPr id="0" name=""/>
          <p:cNvSpPr/>
          <p:nvPr/>
        </p:nvSpPr>
        <p:spPr>
          <a:xfrm>
            <a:off x="594360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$7.4/m²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IMPLIED RENT/M²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Based on 2-bed median $/m²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20040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INVESTOR PROFILE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406140"/>
            <a:ext cx="466344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1-bed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$2,039/m²  •  60 m²  •  $121,500 median  •  +12%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2-bed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$1,845/m²  •  91 m²  •  $169,000 median  •  +26%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3-bed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$1,941/m²  •  112 m²  •  $215,059 median  •  +22% new premium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200400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OPTIMAL CONFIG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4061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dirty="0" b="1">
                <a:solidFill>
                  <a:srgbClr val="264653"/>
                </a:solidFill>
                <a:latin typeface="Inter"/>
                <a:cs typeface="Inter"/>
              </a:rPr>
              <a:t>3-bed · 100–115 m² · 6–15 yr old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703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Best total return of any district (+2.9%) thanks to the smallest price decline (–1.2%/yr). High new-build premiums (22–26%) make resale the clear value play. Family tenants sign longer leases.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4640580"/>
            <a:ext cx="80467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All-cash: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$684/mo net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50% LTV: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$16/mo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Sweet-spot age: 6–15 yr  (–14% at 6–10 yr, –18% at 11–15 yr)</a:t>
            </a:r>
          </a:p>
        </p:txBody>
      </p:sp>
      <p:sp>
        <p:nvSpPr>
          <p:cNvPr id="0" name=""/>
          <p:cNvSpPr txBox="1"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900" dirty="0">
                <a:solidFill>
                  <a:srgbClr val="6B7280"/>
                </a:solidFill>
                <a:latin typeface="Inter"/>
                <a:cs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new-build prices in Lima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3–10yr units offer 16% discounts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642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price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6642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$215,500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842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$2,251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4028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042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unit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98m² · 2BR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243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6243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years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443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Listings/month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29443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644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with garage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264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New-build premium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+24.9%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044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change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03120" y="3904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4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–0.9%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CONFIGURATION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3280" y="1600200"/>
            <a:ext cx="2743200" cy="2926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1645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776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1645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$/m²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83280" y="1892808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1984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1BR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776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51m²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49240" y="198424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$2,472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2276856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429000" y="2368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2BR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776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98m²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49240" y="236829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$2,277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2660904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/>
          <p:nvPr/>
        </p:nvSpPr>
        <p:spPr>
          <a:xfrm>
            <a:off x="3429000" y="27523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3BR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9776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$252K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6634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122m²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49240" y="275234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$2,097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1280160"/>
            <a:ext cx="2560320" cy="28803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280160"/>
            <a:ext cx="45720" cy="2880360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54" name="Text 52"/>
          <p:cNvSpPr/>
          <p:nvPr/>
        </p:nvSpPr>
        <p:spPr>
          <a:xfrm>
            <a:off x="644652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9D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46520" y="16916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Highest new-build $/m² at $2,769 (+24.9% premium)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46520" y="2286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Steepest age discount: 16% for 3–10yr vs new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46520" y="2880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30% of stock is new (0–2yr) — highest share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46520" y="34747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3–10yr undercuts new Miraflores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8640" y="4251960"/>
            <a:ext cx="5577840" cy="27432"/>
          </a:xfrm>
          <a:prstGeom prst="rect">
            <a:avLst/>
          </a:prstGeom>
          <a:solidFill>
            <a:srgbClr val="8B9DA5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31596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TREND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691640" y="4315968"/>
            <a:ext cx="4434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–0.9% YoY — premium prices but no growth momentum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 Isidro | 1,224 listings (2024-2025) | ~58/month avg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 txBox="1"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r>
              <a:rPr lang="en-US" sz="2600" dirty="0" b="1">
                <a:solidFill>
                  <a:srgbClr val="E07A5F"/>
                </a:solidFill>
                <a:latin typeface="Inter"/>
                <a:cs typeface="Inter"/>
              </a:rPr>
              <a:t>San Isidro</a:t>
            </a:r>
            <a:r>
              <a:rPr lang="en-US" sz="2600" dirty="0">
                <a:solidFill>
                  <a:srgbClr val="264653"/>
                </a:solidFill>
                <a:latin typeface="Inter"/>
                <a:cs typeface="Inter"/>
              </a:rPr>
              <a:t xml:space="preserve"> — Rental &amp; investment profile</a:t>
            </a:r>
          </a:p>
        </p:txBody>
      </p:sp>
      <p:sp>
        <p:nvSpPr>
          <p:cNvPr id="0" name=""/>
          <p:cNvSpPr/>
          <p:nvPr/>
        </p:nvSpPr>
        <p:spPr>
          <a:xfrm>
            <a:off x="548640" y="914400"/>
            <a:ext cx="8046720" cy="18288"/>
          </a:xfrm>
          <a:prstGeom prst="rect">
            <a:avLst/>
          </a:prstGeom>
          <a:solidFill>
            <a:srgbClr val="E07A5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/>
          <p:nvPr/>
        </p:nvSpPr>
        <p:spPr>
          <a:xfrm>
            <a:off x="54864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4.7%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GROSS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$850/mo ÷ $215,500</a:t>
            </a:r>
          </a:p>
        </p:txBody>
      </p:sp>
      <p:sp>
        <p:nvSpPr>
          <p:cNvPr id="0" name=""/>
          <p:cNvSpPr/>
          <p:nvPr/>
        </p:nvSpPr>
        <p:spPr>
          <a:xfrm>
            <a:off x="324612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4.0%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NET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After ~15% expenses</a:t>
            </a:r>
          </a:p>
        </p:txBody>
      </p:sp>
      <p:sp>
        <p:nvSpPr>
          <p:cNvPr id="0" name=""/>
          <p:cNvSpPr/>
          <p:nvPr/>
        </p:nvSpPr>
        <p:spPr>
          <a:xfrm>
            <a:off x="594360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DC2626"/>
                </a:solidFill>
                <a:latin typeface="Inter"/>
                <a:cs typeface="Inter"/>
              </a:rPr>
              <a:t>-3.9%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TOTAL RETURN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Net yield -7.9% price CAGR</a:t>
            </a:r>
          </a:p>
        </p:txBody>
      </p:sp>
      <p:sp>
        <p:nvSpPr>
          <p:cNvPr id="0" name=""/>
          <p:cNvSpPr/>
          <p:nvPr/>
        </p:nvSpPr>
        <p:spPr>
          <a:xfrm>
            <a:off x="54864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$850/mo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MEDIAN RENT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Rent CAGR -2.7%/yr</a:t>
            </a:r>
          </a:p>
        </p:txBody>
      </p:sp>
      <p:sp>
        <p:nvSpPr>
          <p:cNvPr id="0" name=""/>
          <p:cNvSpPr/>
          <p:nvPr/>
        </p:nvSpPr>
        <p:spPr>
          <a:xfrm>
            <a:off x="324612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76/mo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RENTAL LISTINGS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Active listings per month</a:t>
            </a:r>
          </a:p>
        </p:txBody>
      </p:sp>
      <p:sp>
        <p:nvSpPr>
          <p:cNvPr id="0" name=""/>
          <p:cNvSpPr/>
          <p:nvPr/>
        </p:nvSpPr>
        <p:spPr>
          <a:xfrm>
            <a:off x="594360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$8.9/m²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IMPLIED RENT/M²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Based on 2-bed median $/m²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20040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INVESTOR PROFILE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406140"/>
            <a:ext cx="466344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1-bed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$2,472/m²  •  51 m²  •  $139,000 median  •  +22%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2-bed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$2,277/m²  •  98 m²  •  $209,000 median  •  +25%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3-bed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$2,097/m²  •  122 m²  •  $252,000 median  •  +28% new premium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200400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OPTIMAL CONFIG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4061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dirty="0" b="1">
                <a:solidFill>
                  <a:srgbClr val="264653"/>
                </a:solidFill>
                <a:latin typeface="Inter"/>
                <a:cs typeface="Inter"/>
              </a:rPr>
              <a:t>Caution: avoid as pure rental play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703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Steepest price decline of any district (–7.9%/yr) and falling rents (–2.7%/yr) produce a negative total return (–3.9%). High new-build premiums (22–28%) add entry risk. Consider only if betting on a corporate-district rebound.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4640580"/>
            <a:ext cx="80467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All-cash: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$718/mo net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50% LTV: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$0 (break-even)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Sweet-spot age: 3–10 yr  (–4.2% at 3–5 yr, –18.8% at 6–10 yr)</a:t>
            </a:r>
          </a:p>
        </p:txBody>
      </p:sp>
      <p:sp>
        <p:nvSpPr>
          <p:cNvPr id="0" name=""/>
          <p:cNvSpPr txBox="1"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900" dirty="0">
                <a:solidFill>
                  <a:srgbClr val="6B7280"/>
                </a:solidFill>
                <a:latin typeface="Inter"/>
                <a:cs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volume, steepest new-build premium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more space than Miraflores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642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price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6642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$177,000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$/m²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842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$1,704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4028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042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unit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110m² · 3BR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243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6243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years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443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Listings/month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29443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~177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644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with garage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264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520440"/>
            <a:ext cx="2651760" cy="32004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New-build premium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26517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044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change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03120" y="3904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+0.6%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CONFIGURATION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3280" y="1600200"/>
            <a:ext cx="2743200" cy="2926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1645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776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6459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49240" y="1645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$/m²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83280" y="1892808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1984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1BR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776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198424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62m²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49240" y="198424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$1,978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2276856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429000" y="2368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2BR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776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2368296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87m²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49240" y="236829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$1,750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83280" y="2660904"/>
            <a:ext cx="2743200" cy="38404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/>
          <p:nvPr/>
        </p:nvSpPr>
        <p:spPr>
          <a:xfrm>
            <a:off x="3429000" y="27523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3BR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9776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663440" y="2752344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110m²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49240" y="275234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$1,704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1280160"/>
            <a:ext cx="2560320" cy="288036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280160"/>
            <a:ext cx="45720" cy="2880360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54" name="Text 52"/>
          <p:cNvSpPr/>
          <p:nvPr/>
        </p:nvSpPr>
        <p:spPr>
          <a:xfrm>
            <a:off x="644652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495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46520" y="16916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Highest volume: ~177/month — 33% of premium supply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46520" y="2286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71% 3BR — tied with San Borja for families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46520" y="2880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$1,704/m² = ~30% more space vs Miraflores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46520" y="34747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Steepest new-build premium (23.2%)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8640" y="4251960"/>
            <a:ext cx="5577840" cy="27432"/>
          </a:xfrm>
          <a:prstGeom prst="rect">
            <a:avLst/>
          </a:prstGeom>
          <a:solidFill>
            <a:srgbClr val="C4956A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31596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YOY TREND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691640" y="4315968"/>
            <a:ext cx="4434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+0.6% YoY, ±3% quarterly — most stable value market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617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Surco | 3,715 listings (2024-2025) | ~177/month avg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bg>
    <p:bgPr>
      <a:solidFill>
        <a:srgbClr val="FFFFFF"/>
      </a:solidFill>
      <a:effectLst/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 txBox="1"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r>
              <a:rPr lang="en-US" sz="2600" dirty="0" b="1">
                <a:solidFill>
                  <a:srgbClr val="E07A5F"/>
                </a:solidFill>
                <a:latin typeface="Inter"/>
                <a:cs typeface="Inter"/>
              </a:rPr>
              <a:t>Surco</a:t>
            </a:r>
            <a:r>
              <a:rPr lang="en-US" sz="2600" dirty="0">
                <a:solidFill>
                  <a:srgbClr val="264653"/>
                </a:solidFill>
                <a:latin typeface="Inter"/>
                <a:cs typeface="Inter"/>
              </a:rPr>
              <a:t xml:space="preserve"> — Rental &amp; investment profile</a:t>
            </a:r>
          </a:p>
        </p:txBody>
      </p:sp>
      <p:sp>
        <p:nvSpPr>
          <p:cNvPr id="0" name=""/>
          <p:cNvSpPr/>
          <p:nvPr/>
        </p:nvSpPr>
        <p:spPr>
          <a:xfrm>
            <a:off x="548640" y="914400"/>
            <a:ext cx="8046720" cy="18288"/>
          </a:xfrm>
          <a:prstGeom prst="rect">
            <a:avLst/>
          </a:prstGeom>
          <a:solidFill>
            <a:srgbClr val="E07A5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/>
          <p:nvPr/>
        </p:nvSpPr>
        <p:spPr>
          <a:xfrm>
            <a:off x="54864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4.9%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GROSS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$725/mo ÷ $177,000</a:t>
            </a:r>
          </a:p>
        </p:txBody>
      </p:sp>
      <p:sp>
        <p:nvSpPr>
          <p:cNvPr id="0" name=""/>
          <p:cNvSpPr/>
          <p:nvPr/>
        </p:nvSpPr>
        <p:spPr>
          <a:xfrm>
            <a:off x="324612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4.2%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NET YIELD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After ~15% expenses</a:t>
            </a:r>
          </a:p>
        </p:txBody>
      </p:sp>
      <p:sp>
        <p:nvSpPr>
          <p:cNvPr id="0" name=""/>
          <p:cNvSpPr/>
          <p:nvPr/>
        </p:nvSpPr>
        <p:spPr>
          <a:xfrm>
            <a:off x="5943600" y="114300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12115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059669"/>
                </a:solidFill>
                <a:latin typeface="Inter"/>
                <a:cs typeface="Inter"/>
              </a:rPr>
              <a:t>+1.8%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6230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TOTAL RETURN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178308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Net yield -2.4% price CAGR</a:t>
            </a:r>
          </a:p>
        </p:txBody>
      </p:sp>
      <p:sp>
        <p:nvSpPr>
          <p:cNvPr id="0" name=""/>
          <p:cNvSpPr/>
          <p:nvPr/>
        </p:nvSpPr>
        <p:spPr>
          <a:xfrm>
            <a:off x="54864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4008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$725/mo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MEDIAN RENT</a:t>
            </a:r>
          </a:p>
        </p:txBody>
      </p:sp>
      <p:sp>
        <p:nvSpPr>
          <p:cNvPr id="0" name=""/>
          <p:cNvSpPr txBox="1"/>
          <p:nvPr/>
        </p:nvSpPr>
        <p:spPr>
          <a:xfrm>
            <a:off x="64008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Rent CAGR -0.9%/yr</a:t>
            </a:r>
          </a:p>
        </p:txBody>
      </p:sp>
      <p:sp>
        <p:nvSpPr>
          <p:cNvPr id="0" name=""/>
          <p:cNvSpPr/>
          <p:nvPr/>
        </p:nvSpPr>
        <p:spPr>
          <a:xfrm>
            <a:off x="324612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333756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104/mo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RENTAL LISTINGS</a:t>
            </a:r>
          </a:p>
        </p:txBody>
      </p:sp>
      <p:sp>
        <p:nvSpPr>
          <p:cNvPr id="0" name=""/>
          <p:cNvSpPr txBox="1"/>
          <p:nvPr/>
        </p:nvSpPr>
        <p:spPr>
          <a:xfrm>
            <a:off x="333756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Active listings per month</a:t>
            </a:r>
          </a:p>
        </p:txBody>
      </p:sp>
      <p:sp>
        <p:nvSpPr>
          <p:cNvPr id="0" name=""/>
          <p:cNvSpPr/>
          <p:nvPr/>
        </p:nvSpPr>
        <p:spPr>
          <a:xfrm>
            <a:off x="5943600" y="214884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F4F1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"/>
          <p:cNvSpPr txBox="1"/>
          <p:nvPr/>
        </p:nvSpPr>
        <p:spPr>
          <a:xfrm>
            <a:off x="6035040" y="22174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2800" dirty="0" b="1">
                <a:solidFill>
                  <a:srgbClr val="264653"/>
                </a:solidFill>
                <a:latin typeface="Inter"/>
                <a:cs typeface="Inter"/>
              </a:rPr>
              <a:t>$7.1/m²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62890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IMPLIED RENT/M²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6035040" y="278892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Based on 2-bed median $/m²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20040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INVESTOR PROFILE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3406140"/>
            <a:ext cx="466344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1-bed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$1,978/m²  •  62 m²  •  $133,619 median  •  +19%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2-bed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$1,750/m²  •  87 m²  •  $150,000 median  •  +26% new premium</a:t>
            </a:r>
          </a:p>
          <a:p>
            <a:lnSpc>
              <a:spcPts val="1400"/>
            </a:lnSpc>
            <a:r>
              <a:rPr lang="en-US" sz="900" dirty="0" b="1">
                <a:solidFill>
                  <a:srgbClr val="264653"/>
                </a:solidFill>
                <a:latin typeface="Inter"/>
                <a:cs typeface="Inter"/>
              </a:rPr>
              <a:t>3-bed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•  $1,704/m²  •  110 m²  •  $185,000 median  •  +23% new premium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200400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900" dirty="0" b="1">
                <a:solidFill>
                  <a:srgbClr val="E07A5F"/>
                </a:solidFill>
                <a:latin typeface="Inter"/>
                <a:cs typeface="Inter"/>
              </a:rPr>
              <a:t>OPTIMAL CONFIG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4061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dirty="0" b="1">
                <a:solidFill>
                  <a:srgbClr val="264653"/>
                </a:solidFill>
                <a:latin typeface="Inter"/>
                <a:cs typeface="Inter"/>
              </a:rPr>
              <a:t>3-bed · 105–115 m² · 6–15 yr old</a:t>
            </a:r>
          </a:p>
        </p:txBody>
      </p:sp>
      <p:sp>
        <p:nvSpPr>
          <p:cNvPr id="0" name=""/>
          <p:cNvSpPr txBox="1"/>
          <p:nvPr/>
        </p:nvSpPr>
        <p:spPr>
          <a:xfrm>
            <a:off x="5394960" y="3703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>Largest supply (4,900 listings) keeps prices honest. Second-most liquid rental market (104/mo). New-build premiums are the highest (23–26%), so resale 6–15 yr units sit at a depreciation floor and offer the best rent-to-price ratio.</a:t>
            </a:r>
          </a:p>
        </p:txBody>
      </p:sp>
      <p:sp>
        <p:nvSpPr>
          <p:cNvPr id="0" name=""/>
          <p:cNvSpPr txBox="1"/>
          <p:nvPr/>
        </p:nvSpPr>
        <p:spPr>
          <a:xfrm>
            <a:off x="548640" y="4640580"/>
            <a:ext cx="80467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All-cash: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$619/mo net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50% LTV: </a:t>
            </a:r>
            <a:r>
              <a:rPr lang="en-US" sz="800" dirty="0" b="1">
                <a:solidFill>
                  <a:srgbClr val="264653"/>
                </a:solidFill>
                <a:latin typeface="Inter"/>
                <a:cs typeface="Inter"/>
              </a:rPr>
              <a:t>$29/mo</a:t>
            </a:r>
            <a:r>
              <a:rPr lang="en-US" sz="800" dirty="0">
                <a:solidFill>
                  <a:srgbClr val="6B7280"/>
                </a:solidFill>
                <a:latin typeface="Inter"/>
                <a:cs typeface="Inter"/>
              </a:rPr>
              <a:t xml:space="preserve">   |   Sweet-spot age: 6–15 yr  (–16% at 3–5 yr, –19% at 6–10 yr, –19% at 11–15 yr (flat floor))</a:t>
            </a:r>
          </a:p>
        </p:txBody>
      </p:sp>
      <p:sp>
        <p:nvSpPr>
          <p:cNvPr id="0" name=""/>
          <p:cNvSpPr txBox="1"/>
          <p:nvPr/>
        </p:nvSpPr>
        <p:spPr>
          <a:xfrm>
            <a:off x="8503920" y="46634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900" dirty="0">
                <a:solidFill>
                  <a:srgbClr val="6B7280"/>
                </a:solidFill>
                <a:latin typeface="Inter"/>
                <a:cs typeface="Inter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Lima Premium Residential Market</dc:title>
  <dc:subject>PptxGenJS Presentation</dc:subject>
  <dc:creator>Lima Market Analysis</dc:creator>
  <cp:lastModifiedBy>Lima Market Analysis</cp:lastModifiedBy>
  <cp:revision>1</cp:revision>
  <dcterms:created xsi:type="dcterms:W3CDTF">2026-02-11T17:18:48Z</dcterms:created>
  <dcterms:modified xsi:type="dcterms:W3CDTF">2026-02-11T17:18:48Z</dcterms:modified>
</cp:coreProperties>
</file>